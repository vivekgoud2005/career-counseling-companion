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1" r:id="rId4"/>
    <p:sldId id="292" r:id="rId6"/>
    <p:sldId id="293" r:id="rId7"/>
    <p:sldId id="294" r:id="rId8"/>
    <p:sldId id="295" r:id="rId9"/>
    <p:sldId id="296" r:id="rId10"/>
    <p:sldId id="297" r:id="rId11"/>
    <p:sldId id="298" r:id="rId12"/>
    <p:sldId id="299" r:id="rId13"/>
    <p:sldId id="300" r:id="rId14"/>
    <p:sldId id="301" r:id="rId15"/>
    <p:sldId id="302" r:id="rId16"/>
    <p:sldId id="303" r:id="rId17"/>
    <p:sldId id="310" r:id="rId18"/>
    <p:sldId id="311" r:id="rId19"/>
    <p:sldId id="304" r:id="rId20"/>
    <p:sldId id="305" r:id="rId21"/>
    <p:sldId id="306" r:id="rId22"/>
    <p:sldId id="307" r:id="rId23"/>
    <p:sldId id="308" r:id="rId24"/>
    <p:sldId id="30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sz="2000"/>
                        <a:t>Gundala vivek</a:t>
                      </a:r>
                      <a:endParaRPr lang="en-US"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a:t>vivekgundala550@gmail.com</a:t>
                      </a:r>
                      <a:endParaRPr lang="en-US"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a:t>8688497536</a:t>
                      </a:r>
                      <a:endParaRPr lang="en-US"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US" sz="2400" b="1">
                <a:highlight>
                  <a:srgbClr val="FFFF00"/>
                </a:highlight>
              </a:rPr>
              <a:t>[ Education /career Guidance]</a:t>
            </a:r>
            <a:endParaRPr lang="en-IN"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US" sz="2400" b="1">
                <a:highlight>
                  <a:srgbClr val="FFFF00"/>
                </a:highlight>
              </a:rPr>
              <a:t>[</a:t>
            </a:r>
            <a:r>
              <a:rPr lang="en-US" altLang="en-US" sz="2400" b="1">
                <a:highlight>
                  <a:srgbClr val="FFFF00"/>
                </a:highlight>
              </a:rPr>
              <a:t>career-counseling-companion</a:t>
            </a:r>
            <a:r>
              <a:rPr lang="en-US" sz="2400" b="1">
                <a:highlight>
                  <a:srgbClr val="FFFF00"/>
                </a:highlight>
              </a:rPr>
              <a:t>]</a:t>
            </a:r>
            <a:endParaRPr lang="en-IN"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pic>
        <p:nvPicPr>
          <p:cNvPr id="6" name="Picture 5" descr="WhatsApp Image 2026-09-10 at 20.23.44"/>
          <p:cNvPicPr/>
          <p:nvPr/>
        </p:nvPicPr>
        <p:blipFill>
          <a:blip r:embed="rId1"/>
          <a:srcRect l="1182" t="13250"/>
          <a:stretch>
            <a:fillRect/>
          </a:stretch>
        </p:blipFill>
        <p:spPr>
          <a:xfrm>
            <a:off x="4067175" y="3743325"/>
            <a:ext cx="796290" cy="8813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5945" y="1234440"/>
            <a:ext cx="10894060" cy="5479415"/>
          </a:xfrm>
          <a:prstGeom prst="rect">
            <a:avLst/>
          </a:prstGeom>
          <a:noFill/>
        </p:spPr>
        <p:txBody>
          <a:bodyPr wrap="square" rtlCol="0">
            <a:noAutofit/>
          </a:bodyPr>
          <a:lstStyle/>
          <a:p>
            <a:r>
              <a:rPr lang="en-US" altLang="en-US" sz="1200" dirty="0"/>
              <a:t>Problem Statement – Agentic Career Counseling Companion</a:t>
            </a:r>
            <a:endParaRPr lang="en-US" altLang="en-US" sz="1200" dirty="0"/>
          </a:p>
          <a:p>
            <a:endParaRPr lang="en-US" altLang="en-US" sz="1200" dirty="0"/>
          </a:p>
          <a:p>
            <a:r>
              <a:rPr lang="en-US" altLang="en-US" sz="1200" dirty="0"/>
              <a:t>The Challenge</a:t>
            </a:r>
            <a:endParaRPr lang="en-US" altLang="en-US" sz="1200" dirty="0"/>
          </a:p>
          <a:p>
            <a:endParaRPr lang="en-US" altLang="en-US" sz="1200" dirty="0"/>
          </a:p>
          <a:p>
            <a:r>
              <a:rPr lang="en-US" altLang="en-US" sz="1200" dirty="0"/>
              <a:t>Students often struggle to make informed career decisions due to fragmented access to guidance, limited self-awareness of academic strengths, and rapidly evolving industry landscapes. Traditional counseling methods lack personalization and scalability, leading to missed opportunities and career mismatches. Students need an intelligent system that can understand their performance, interests, skills, and changing industry trends to provide suitable career guidance.</a:t>
            </a:r>
            <a:endParaRPr lang="en-US" altLang="en-US" sz="1200" dirty="0"/>
          </a:p>
          <a:p>
            <a:endParaRPr lang="en-US" altLang="en-US" sz="1200" dirty="0"/>
          </a:p>
          <a:p>
            <a:r>
              <a:rPr lang="en-US" altLang="en-US" sz="1200" dirty="0"/>
              <a:t>The Objective</a:t>
            </a:r>
            <a:endParaRPr lang="en-US" altLang="en-US" sz="1200" dirty="0"/>
          </a:p>
          <a:p>
            <a:endParaRPr lang="en-US" altLang="en-US" sz="1200" dirty="0"/>
          </a:p>
          <a:p>
            <a:r>
              <a:rPr lang="en-US" altLang="en-US" sz="1200" dirty="0"/>
              <a:t>Build an AI-powered Agentic Career Counseling Companion that delivers personalized career insights and guidance for students. The solution should:</a:t>
            </a:r>
            <a:endParaRPr lang="en-US" altLang="en-US" sz="1200" dirty="0"/>
          </a:p>
          <a:p>
            <a:endParaRPr lang="en-US" altLang="en-US" sz="1200" dirty="0"/>
          </a:p>
          <a:p>
            <a:r>
              <a:rPr lang="en-US" altLang="en-US" sz="1200" dirty="0"/>
              <a:t>• Student Profile Analysis – Analyze academic performance, skills, interests, and strengths.</a:t>
            </a:r>
            <a:endParaRPr lang="en-US" altLang="en-US" sz="1200" dirty="0"/>
          </a:p>
          <a:p>
            <a:r>
              <a:rPr lang="en-US" altLang="en-US" sz="1200" dirty="0"/>
              <a:t>• Career Recommendations – Suggest suitable career paths based on the student's profile.</a:t>
            </a:r>
            <a:endParaRPr lang="en-US" altLang="en-US" sz="1200" dirty="0"/>
          </a:p>
          <a:p>
            <a:r>
              <a:rPr lang="en-US" altLang="en-US" sz="1200" dirty="0"/>
              <a:t>• Skill Gap Analysis – Identify required skills and recommend areas for improvement.</a:t>
            </a:r>
            <a:endParaRPr lang="en-US" altLang="en-US" sz="1200" dirty="0"/>
          </a:p>
          <a:p>
            <a:r>
              <a:rPr lang="en-US" altLang="en-US" sz="1200" dirty="0"/>
              <a:t>• Career Roadmap – Provide personalized learning and career pathways.</a:t>
            </a:r>
            <a:endParaRPr lang="en-US" altLang="en-US" sz="1200" dirty="0"/>
          </a:p>
          <a:p>
            <a:r>
              <a:rPr lang="en-US" altLang="en-US" sz="1200" dirty="0"/>
              <a:t>• Industry Trend Analysis – Consider evolving job roles and industry requirements.</a:t>
            </a:r>
            <a:endParaRPr lang="en-US" altLang="en-US" sz="1200" dirty="0"/>
          </a:p>
          <a:p>
            <a:r>
              <a:rPr lang="en-US" altLang="en-US" sz="1200" dirty="0"/>
              <a:t>• Multi-Agent System –</a:t>
            </a:r>
            <a:endParaRPr lang="en-US" altLang="en-US" sz="1200" dirty="0"/>
          </a:p>
          <a:p>
            <a:r>
              <a:rPr lang="en-US" altLang="en-US" sz="1200" dirty="0"/>
              <a:t>  Career Assessment Agent (analyzes student profile)</a:t>
            </a:r>
            <a:endParaRPr lang="en-US" altLang="en-US" sz="1200" dirty="0"/>
          </a:p>
          <a:p>
            <a:r>
              <a:rPr lang="en-US" altLang="en-US" sz="1200" dirty="0"/>
              <a:t>  Career Recommendation Agent (suggests suitable careers)</a:t>
            </a:r>
            <a:endParaRPr lang="en-US" altLang="en-US" sz="1200" dirty="0"/>
          </a:p>
          <a:p>
            <a:r>
              <a:rPr lang="en-US" altLang="en-US" sz="1200" dirty="0"/>
              <a:t>  Skill Gap Agent (identifies missing skills)</a:t>
            </a:r>
            <a:endParaRPr lang="en-US" altLang="en-US" sz="1200" dirty="0"/>
          </a:p>
          <a:p>
            <a:r>
              <a:rPr lang="en-US" altLang="en-US" sz="1200" dirty="0"/>
              <a:t>  Career Roadmap Agent (creates personalized career plans)</a:t>
            </a:r>
            <a:endParaRPr lang="en-US" altLang="en-US" sz="1200" dirty="0"/>
          </a:p>
          <a:p>
            <a:r>
              <a:rPr lang="en-US" altLang="en-US" sz="1200" dirty="0"/>
              <a:t>• Personalized Guidance – Adapt recommendations based on changing student interests and performance.</a:t>
            </a:r>
            <a:endParaRPr lang="en-US" altLang="en-US" sz="1200" dirty="0"/>
          </a:p>
          <a:p>
            <a:r>
              <a:rPr lang="en-US" altLang="en-US" sz="1200" dirty="0"/>
              <a:t>• Future-Ready Decisions – Help students make confident and informed career decisions.</a:t>
            </a:r>
            <a:endParaRPr lang="en-US" altLang="en-US" sz="1200" dirty="0"/>
          </a:p>
        </p:txBody>
      </p:sp>
      <p:sp>
        <p:nvSpPr>
          <p:cNvPr id="3" name="TextBox 2"/>
          <p:cNvSpPr txBox="1"/>
          <p:nvPr/>
        </p:nvSpPr>
        <p:spPr>
          <a:xfrm>
            <a:off x="576072" y="704088"/>
            <a:ext cx="7214616" cy="460375"/>
          </a:xfrm>
          <a:prstGeom prst="rect">
            <a:avLst/>
          </a:prstGeom>
          <a:noFill/>
        </p:spPr>
        <p:txBody>
          <a:bodyPr wrap="square" rtlCol="0">
            <a:spAutoFit/>
          </a:bodyPr>
          <a:lstStyle/>
          <a:p>
            <a:r>
              <a:rPr lang="en-US" sz="2400" b="1"/>
              <a:t>Problem Statement - 15</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831080"/>
          </a:xfrm>
          <a:prstGeom prst="rect">
            <a:avLst/>
          </a:prstGeom>
          <a:noFill/>
        </p:spPr>
        <p:txBody>
          <a:bodyPr wrap="square" rtlCol="0">
            <a:spAutoFit/>
          </a:bodyPr>
          <a:lstStyle/>
          <a:p>
            <a:r>
              <a:rPr lang="en-US" altLang="en-US"/>
              <a:t>The proposed solution is a multi-agent AI-powered Career Counseling Companion built using IBM Bob, IBM watsonx.ai, and IBM Granite models to provide personalized, real-time career guidance. The system analyzes student performance, interests, skills, and industry trends to recommend suitable career pathways.</a:t>
            </a:r>
            <a:endParaRPr lang="en-US" altLang="en-US"/>
          </a:p>
          <a:p>
            <a:endParaRPr lang="en-US" altLang="en-US"/>
          </a:p>
          <a:p>
            <a:r>
              <a:rPr lang="en-US" altLang="en-US"/>
              <a:t>At its core, the solution uses Retrieval-Augmented Generation (RAG) to retrieve relevant career and industry information and provide reliable, context-aware recommendations.</a:t>
            </a:r>
            <a:endParaRPr lang="en-US" altLang="en-US"/>
          </a:p>
          <a:p>
            <a:endParaRPr lang="en-US" altLang="en-US"/>
          </a:p>
          <a:p>
            <a:r>
              <a:rPr lang="en-US" altLang="en-US"/>
              <a:t>The system consists of four key agents:</a:t>
            </a:r>
            <a:endParaRPr lang="en-US" altLang="en-US"/>
          </a:p>
          <a:p>
            <a:endParaRPr lang="en-US" altLang="en-US"/>
          </a:p>
          <a:p>
            <a:r>
              <a:rPr lang="en-US" altLang="en-US"/>
              <a:t>Career Assessment Agent analyzes academic performance, skills, interests, and strengths.</a:t>
            </a:r>
            <a:endParaRPr lang="en-US" altLang="en-US"/>
          </a:p>
          <a:p>
            <a:endParaRPr lang="en-US" altLang="en-US"/>
          </a:p>
          <a:p>
            <a:r>
              <a:rPr lang="en-US" altLang="en-US"/>
              <a:t>Career Recommendation Agent suggests suitable career options based on the student's profile.</a:t>
            </a:r>
            <a:endParaRPr lang="en-US" altLang="en-US"/>
          </a:p>
          <a:p>
            <a:endParaRPr lang="en-US" altLang="en-US"/>
          </a:p>
          <a:p>
            <a:r>
              <a:rPr lang="en-US" altLang="en-US"/>
              <a:t>Skill Gap Agent identifies missing skills and recommends areas for improvement.</a:t>
            </a:r>
            <a:endParaRPr lang="en-US" altLang="en-US"/>
          </a:p>
          <a:p>
            <a:endParaRPr lang="en-US" altLang="en-US"/>
          </a:p>
          <a:p>
            <a:r>
              <a:rPr lang="en-US" altLang="en-US"/>
              <a:t>Career Roadmap Agent creates a personalized learning and career development plan.</a:t>
            </a:r>
            <a:endParaRPr lang="en-US" altLang="en-US"/>
          </a:p>
          <a:p>
            <a:endParaRPr lang="en-US" altLang="en-US"/>
          </a:p>
          <a:p>
            <a:r>
              <a:rPr lang="en-US" altLang="en-US"/>
              <a:t>IBM Bob is used to orchestrate the agent workflows, while IBM watsonx.ai supports AI deployment and governance. IBM Granite models power reasoning, personalization, and career guidance.</a:t>
            </a:r>
            <a:endParaRPr lang="en-US" altLang="en-US"/>
          </a:p>
          <a:p>
            <a:endParaRPr lang="en-US" altLang="en-US"/>
          </a:p>
          <a:p>
            <a:r>
              <a:rPr lang="en-US" altLang="en-US"/>
              <a:t>Overall, the solution provides an intelligent and adaptive career counseling assistant that helps students make confident, informed, and future-ready career decisions.</a:t>
            </a:r>
            <a:endParaRPr lang="en-US" altLang="en-US"/>
          </a:p>
        </p:txBody>
      </p:sp>
      <p:sp>
        <p:nvSpPr>
          <p:cNvPr id="3" name="TextBox 2"/>
          <p:cNvSpPr txBox="1"/>
          <p:nvPr/>
        </p:nvSpPr>
        <p:spPr>
          <a:xfrm>
            <a:off x="575945" y="704215"/>
            <a:ext cx="9302750" cy="460375"/>
          </a:xfrm>
          <a:prstGeom prst="rect">
            <a:avLst/>
          </a:prstGeom>
          <a:noFill/>
        </p:spPr>
        <p:txBody>
          <a:bodyPr wrap="square" rtlCol="0">
            <a:spAutoFit/>
          </a:bodyPr>
          <a:lstStyle/>
          <a:p>
            <a:r>
              <a:rPr lang="en-US" sz="2400" b="1"/>
              <a:t>Proposed Solution - </a:t>
            </a:r>
            <a:r>
              <a:rPr lang="en-US" altLang="en-US" sz="2400">
                <a:sym typeface="+mn-ea"/>
              </a:rPr>
              <a:t>AI-Powered Career Counseling Companion</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5015865"/>
          </a:xfrm>
          <a:prstGeom prst="rect">
            <a:avLst/>
          </a:prstGeom>
          <a:noFill/>
        </p:spPr>
        <p:txBody>
          <a:bodyPr wrap="square" rtlCol="0">
            <a:spAutoFit/>
          </a:bodyPr>
          <a:lstStyle/>
          <a:p>
            <a:r>
              <a:rPr lang="en-US" altLang="en-US" sz="2000"/>
              <a:t>• </a:t>
            </a:r>
            <a:r>
              <a:rPr lang="en-US" altLang="en-US" sz="2000" b="1"/>
              <a:t>IBM Bob platform</a:t>
            </a:r>
            <a:r>
              <a:rPr lang="en-US" altLang="en-US" sz="2000"/>
              <a:t> – For designing and orchestrating multi-agent career counseling workflows visually.</a:t>
            </a:r>
            <a:endParaRPr lang="en-US" altLang="en-US" sz="2000"/>
          </a:p>
          <a:p>
            <a:endParaRPr lang="en-US" altLang="en-US" sz="2000"/>
          </a:p>
          <a:p>
            <a:r>
              <a:rPr lang="en-US" altLang="en-US" sz="2000"/>
              <a:t>• </a:t>
            </a:r>
            <a:r>
              <a:rPr lang="en-US" altLang="en-US" sz="2000" b="1"/>
              <a:t>IBM Granite model </a:t>
            </a:r>
            <a:r>
              <a:rPr lang="en-US" altLang="en-US" sz="2000"/>
              <a:t>– For natural language understanding, reasoning, and personalized career recommendations.</a:t>
            </a:r>
            <a:endParaRPr lang="en-US" altLang="en-US" sz="2000"/>
          </a:p>
          <a:p>
            <a:endParaRPr lang="en-US" altLang="en-US" sz="2000"/>
          </a:p>
          <a:p>
            <a:r>
              <a:rPr lang="en-US" altLang="en-US" sz="2000"/>
              <a:t>• </a:t>
            </a:r>
            <a:r>
              <a:rPr lang="en-US" altLang="en-US" sz="2000" b="1"/>
              <a:t>IBM Cloud </a:t>
            </a:r>
            <a:r>
              <a:rPr lang="en-US" altLang="en-US" sz="2000"/>
              <a:t>– Provides the infrastructure to build, deploy, and scale the Career Counseling Agent efficiently.</a:t>
            </a:r>
            <a:endParaRPr lang="en-US" altLang="en-US" sz="2000"/>
          </a:p>
          <a:p>
            <a:endParaRPr lang="en-US" altLang="en-US" sz="2000"/>
          </a:p>
          <a:p>
            <a:r>
              <a:rPr lang="en-US" altLang="en-US" sz="2000"/>
              <a:t>• </a:t>
            </a:r>
            <a:r>
              <a:rPr lang="en-US" altLang="en-US" sz="2000" b="1"/>
              <a:t>RAG </a:t>
            </a:r>
            <a:r>
              <a:rPr lang="en-US" altLang="en-US" sz="2000"/>
              <a:t>– Retrieves relevant career, skill, and industry information first, then generates reliable and context-aware career guidance.</a:t>
            </a:r>
            <a:endParaRPr lang="en-US" altLang="en-US" sz="2000"/>
          </a:p>
          <a:p>
            <a:endParaRPr lang="en-US" altLang="en-US" sz="2000"/>
          </a:p>
          <a:p>
            <a:r>
              <a:rPr lang="en-US" altLang="en-US" sz="2000"/>
              <a:t>• </a:t>
            </a:r>
            <a:r>
              <a:rPr lang="en-US" altLang="en-US" sz="2000" b="1"/>
              <a:t>IBM watsonx.ai </a:t>
            </a:r>
            <a:r>
              <a:rPr lang="en-US" altLang="en-US" sz="2000"/>
              <a:t>– For model deployment, embeddings, and AI governance.</a:t>
            </a:r>
            <a:endParaRPr lang="en-US" altLang="en-US" sz="2000"/>
          </a:p>
          <a:p>
            <a:endParaRPr lang="en-US" altLang="en-US" sz="2000"/>
          </a:p>
          <a:p>
            <a:r>
              <a:rPr lang="en-US" altLang="en-US" sz="2000"/>
              <a:t>• </a:t>
            </a:r>
            <a:r>
              <a:rPr lang="en-US" altLang="en-US" sz="2000" b="1"/>
              <a:t>Vector Database (FAISS/Chroma) </a:t>
            </a:r>
            <a:r>
              <a:rPr lang="en-US" altLang="en-US" sz="2000"/>
              <a:t>– For RAG-based career and industry information retrieval.</a:t>
            </a:r>
            <a:endParaRPr lang="en-US"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2" name="Picture 11" descr="Screenshot 2026-09-10 200424"/>
          <p:cNvPicPr>
            <a:picLocks noChangeAspect="1"/>
          </p:cNvPicPr>
          <p:nvPr/>
        </p:nvPicPr>
        <p:blipFill>
          <a:blip r:embed="rId1"/>
          <a:stretch>
            <a:fillRect/>
          </a:stretch>
        </p:blipFill>
        <p:spPr>
          <a:xfrm>
            <a:off x="3538220" y="1491615"/>
            <a:ext cx="8366125" cy="4704080"/>
          </a:xfrm>
          <a:prstGeom prst="rect">
            <a:avLst/>
          </a:prstGeom>
        </p:spPr>
      </p:pic>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endParaRPr lang="en-US" sz="1800"/>
          </a:p>
          <a:p>
            <a:pPr marL="342900" indent="-342900">
              <a:buFont typeface="+mj-lt"/>
              <a:buAutoNum type="arabicPeriod"/>
            </a:pPr>
            <a:endParaRPr lang="en-US" sz="1800"/>
          </a:p>
          <a:p>
            <a:pPr marL="342900" indent="-342900">
              <a:buFont typeface="+mj-lt"/>
              <a:buAutoNum type="arabicPeriod"/>
            </a:pPr>
            <a:r>
              <a:rPr lang="en-US" sz="1800"/>
              <a:t>Requirements.txt</a:t>
            </a:r>
            <a:endParaRPr lang="en-US" sz="1800"/>
          </a:p>
          <a:p>
            <a:pPr marL="342900" indent="-342900">
              <a:buFont typeface="+mj-lt"/>
              <a:buAutoNum type="arabicPeriod"/>
            </a:pPr>
            <a:endParaRPr lang="en-US" sz="1800"/>
          </a:p>
          <a:p>
            <a:pPr marL="342900" indent="-342900">
              <a:buFont typeface="+mj-lt"/>
              <a:buAutoNum type="arabicPeriod"/>
            </a:pPr>
            <a:r>
              <a:rPr lang="en-US" sz="1800"/>
              <a:t>Style.css </a:t>
            </a:r>
            <a:endParaRPr lang="en-US" sz="1800"/>
          </a:p>
          <a:p>
            <a:pPr marL="342900" indent="-342900">
              <a:buFont typeface="+mj-lt"/>
              <a:buAutoNum type="arabicPeriod"/>
            </a:pPr>
            <a:endParaRPr lang="en-US" sz="1800"/>
          </a:p>
          <a:p>
            <a:pPr marL="342900" indent="-342900">
              <a:buFont typeface="+mj-lt"/>
              <a:buAutoNum type="arabicPeriod"/>
            </a:pPr>
            <a:r>
              <a:rPr lang="en-US" sz="1800"/>
              <a:t>.env</a:t>
            </a:r>
            <a:endParaRPr lang="en-US" sz="1800"/>
          </a:p>
          <a:p>
            <a:pPr marL="342900" indent="-342900">
              <a:buFont typeface="+mj-lt"/>
              <a:buAutoNum type="arabicPeriod"/>
            </a:pPr>
            <a:endParaRPr lang="en-US" sz="1800"/>
          </a:p>
          <a:p>
            <a:pPr marL="342900" indent="-342900">
              <a:buFont typeface="+mj-lt"/>
              <a:buAutoNum type="arabicPeriod"/>
            </a:pPr>
            <a:r>
              <a:rPr lang="en-US" sz="1800"/>
              <a:t>Index.html</a:t>
            </a:r>
            <a:endParaRPr lang="en-US" sz="1800"/>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sp>
        <p:nvSpPr>
          <p:cNvPr id="9" name="Rectangle 8"/>
          <p:cNvSpPr/>
          <p:nvPr/>
        </p:nvSpPr>
        <p:spPr>
          <a:xfrm>
            <a:off x="4608205" y="1650873"/>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p:cNvSpPr/>
          <p:nvPr/>
        </p:nvSpPr>
        <p:spPr>
          <a:xfrm rot="8280234">
            <a:off x="8380762" y="88811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3" name="Picture 2" descr="Screenshot 2026-09-10 195234"/>
          <p:cNvPicPr>
            <a:picLocks noChangeAspect="1"/>
          </p:cNvPicPr>
          <p:nvPr/>
        </p:nvPicPr>
        <p:blipFill>
          <a:blip r:embed="rId1"/>
          <a:stretch>
            <a:fillRect/>
          </a:stretch>
        </p:blipFill>
        <p:spPr>
          <a:xfrm>
            <a:off x="1250315" y="991235"/>
            <a:ext cx="9690735" cy="544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9-10 203020"/>
          <p:cNvPicPr>
            <a:picLocks noChangeAspect="1"/>
          </p:cNvPicPr>
          <p:nvPr/>
        </p:nvPicPr>
        <p:blipFill>
          <a:blip r:embed="rId1"/>
          <a:stretch>
            <a:fillRect/>
          </a:stretch>
        </p:blipFill>
        <p:spPr>
          <a:xfrm>
            <a:off x="558800" y="223520"/>
            <a:ext cx="11073765" cy="6226810"/>
          </a:xfrm>
          <a:prstGeom prst="rect">
            <a:avLst/>
          </a:prstGeom>
        </p:spPr>
      </p:pic>
      <p:sp>
        <p:nvSpPr>
          <p:cNvPr id="10" name="Arrow: Right 9"/>
          <p:cNvSpPr/>
          <p:nvPr/>
        </p:nvSpPr>
        <p:spPr>
          <a:xfrm rot="8280234">
            <a:off x="9562465" y="3191510"/>
            <a:ext cx="305435" cy="343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IN"/>
          </a:p>
        </p:txBody>
      </p:sp>
      <p:sp>
        <p:nvSpPr>
          <p:cNvPr id="3" name="Arrow: Right 9"/>
          <p:cNvSpPr/>
          <p:nvPr/>
        </p:nvSpPr>
        <p:spPr>
          <a:xfrm rot="8280234">
            <a:off x="8924925" y="3649345"/>
            <a:ext cx="257810" cy="236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4" name="Picture 3" descr="img_1789041462197"/>
          <p:cNvPicPr>
            <a:picLocks noChangeAspect="1"/>
          </p:cNvPicPr>
          <p:nvPr/>
        </p:nvPicPr>
        <p:blipFill>
          <a:blip r:embed="rId1"/>
          <a:stretch>
            <a:fillRect/>
          </a:stretch>
        </p:blipFill>
        <p:spPr>
          <a:xfrm>
            <a:off x="3163570" y="924560"/>
            <a:ext cx="6365875" cy="55714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3969385"/>
          </a:xfrm>
          <a:prstGeom prst="rect">
            <a:avLst/>
          </a:prstGeom>
          <a:noFill/>
        </p:spPr>
        <p:txBody>
          <a:bodyPr wrap="square" rtlCol="0">
            <a:spAutoFit/>
          </a:bodyPr>
          <a:lstStyle/>
          <a:p>
            <a:r>
              <a:rPr lang="en-US" altLang="en-US"/>
              <a:t>Role of Agentic AI in Career Counseling Companion</a:t>
            </a:r>
            <a:endParaRPr lang="en-US" altLang="en-US"/>
          </a:p>
          <a:p>
            <a:endParaRPr lang="en-US" altLang="en-US"/>
          </a:p>
          <a:p>
            <a:r>
              <a:rPr lang="en-US" altLang="en-US"/>
              <a:t>Agentic AI enables the Career Counseling Companion to function as an intelligent and autonomous system rather than a simple chatbot. Using IBM watsonx.ai and IBM Granite models, it coordinates specialized agents to provide personalized career guidance.</a:t>
            </a:r>
            <a:endParaRPr lang="en-US" altLang="en-US"/>
          </a:p>
          <a:p>
            <a:endParaRPr lang="en-US" altLang="en-US"/>
          </a:p>
          <a:p>
            <a:r>
              <a:rPr lang="en-US" altLang="en-US"/>
              <a:t>Each agent performs a specific role—such as analyzing academic performance, understanding interests and aptitude, analyzing labor-market information, and generating career recommendations—while working collaboratively. This multi-agent approach enables efficient task execution and better career decisions.</a:t>
            </a:r>
            <a:endParaRPr lang="en-US" altLang="en-US"/>
          </a:p>
          <a:p>
            <a:endParaRPr lang="en-US" altLang="en-US"/>
          </a:p>
          <a:p>
            <a:r>
              <a:rPr lang="en-US" altLang="en-US"/>
              <a:t>Agentic AI provides context awareness by understanding student details such as academic performance, skills, interests, and career goals to generate tailored recommendations. It also supports real-time adaptation by updating suggestions based on changing interests and industry trends.</a:t>
            </a:r>
            <a:endParaRPr lang="en-US" altLang="en-US"/>
          </a:p>
          <a:p>
            <a:endParaRPr lang="en-US" altLang="en-US"/>
          </a:p>
          <a:p>
            <a:r>
              <a:rPr lang="en-US" altLang="en-US"/>
              <a:t>Overall, Agentic AI makes the system proactive, personalized, and goal-driven, helping students make confident and future-ready career decisions.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Screenshot 2026-09-10 201245"/>
          <p:cNvPicPr>
            <a:picLocks noChangeAspect="1"/>
          </p:cNvPicPr>
          <p:nvPr/>
        </p:nvPicPr>
        <p:blipFill>
          <a:blip r:embed="rId1"/>
          <a:stretch>
            <a:fillRect/>
          </a:stretch>
        </p:blipFill>
        <p:spPr>
          <a:xfrm>
            <a:off x="1233805" y="1046480"/>
            <a:ext cx="9726295" cy="4766310"/>
          </a:xfrm>
          <a:prstGeom prst="rect">
            <a:avLst/>
          </a:prstGeom>
        </p:spPr>
      </p:pic>
      <p:sp>
        <p:nvSpPr>
          <p:cNvPr id="9" name="Rectangle 8"/>
          <p:cNvSpPr/>
          <p:nvPr/>
        </p:nvSpPr>
        <p:spPr>
          <a:xfrm>
            <a:off x="5060950" y="3575685"/>
            <a:ext cx="6044565" cy="1001395"/>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IN">
              <a:solidFill>
                <a:srgbClr val="E7122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9-10 204608"/>
          <p:cNvPicPr>
            <a:picLocks noChangeAspect="1"/>
          </p:cNvPicPr>
          <p:nvPr/>
        </p:nvPicPr>
        <p:blipFill>
          <a:blip r:embed="rId1"/>
          <a:stretch>
            <a:fillRect/>
          </a:stretch>
        </p:blipFill>
        <p:spPr>
          <a:xfrm>
            <a:off x="767080" y="807085"/>
            <a:ext cx="10445115" cy="5872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9-10 204641"/>
          <p:cNvPicPr>
            <a:picLocks noChangeAspect="1"/>
          </p:cNvPicPr>
          <p:nvPr/>
        </p:nvPicPr>
        <p:blipFill>
          <a:blip r:embed="rId1"/>
          <a:stretch>
            <a:fillRect/>
          </a:stretch>
        </p:blipFill>
        <p:spPr>
          <a:xfrm>
            <a:off x="808990" y="817245"/>
            <a:ext cx="10233025" cy="57537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9-10 204710"/>
          <p:cNvPicPr>
            <a:picLocks noChangeAspect="1"/>
          </p:cNvPicPr>
          <p:nvPr/>
        </p:nvPicPr>
        <p:blipFill>
          <a:blip r:embed="rId1"/>
          <a:stretch>
            <a:fillRect/>
          </a:stretch>
        </p:blipFill>
        <p:spPr>
          <a:xfrm>
            <a:off x="626110" y="899795"/>
            <a:ext cx="10939780" cy="55073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7660" y="301625"/>
            <a:ext cx="9025255" cy="772160"/>
          </a:xfrm>
        </p:spPr>
        <p:txBody>
          <a:bodyPr/>
          <a:p>
            <a:r>
              <a:rPr lang="en-US" sz="2400" b="1">
                <a:sym typeface="Times New Roman" panose="02020603050405020304"/>
              </a:rPr>
              <a:t>Project Output Screenshot</a:t>
            </a:r>
            <a:endParaRPr lang="en-US" sz="2400">
              <a:latin typeface="Arial" panose="020B0604020202020204" pitchFamily="34" charset="0"/>
              <a:cs typeface="Arial" panose="020B0604020202020204" pitchFamily="34" charset="0"/>
            </a:endParaRPr>
          </a:p>
        </p:txBody>
      </p:sp>
      <p:pic>
        <p:nvPicPr>
          <p:cNvPr id="5" name="Picture 4" descr="Screenshot 2026-09-10 204724"/>
          <p:cNvPicPr>
            <a:picLocks noChangeAspect="1"/>
          </p:cNvPicPr>
          <p:nvPr/>
        </p:nvPicPr>
        <p:blipFill>
          <a:blip r:embed="rId1"/>
          <a:stretch>
            <a:fillRect/>
          </a:stretch>
        </p:blipFill>
        <p:spPr>
          <a:xfrm>
            <a:off x="2647315" y="915670"/>
            <a:ext cx="6396990" cy="52038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5435" y="0"/>
            <a:ext cx="10515600" cy="1325563"/>
          </a:xfrm>
        </p:spPr>
        <p:txBody>
          <a:bodyPr/>
          <a:p>
            <a:r>
              <a:rPr lang="en-US" sz="2800" b="1">
                <a:sym typeface="Times New Roman" panose="02020603050405020304"/>
              </a:rPr>
              <a:t>Project </a:t>
            </a:r>
            <a:r>
              <a:rPr lang="en-US" sz="2800" b="1">
                <a:latin typeface="Arial" panose="020B0604020202020204" pitchFamily="34" charset="0"/>
                <a:cs typeface="Arial" panose="020B0604020202020204" pitchFamily="34" charset="0"/>
                <a:sym typeface="Times New Roman" panose="02020603050405020304"/>
              </a:rPr>
              <a:t>Output </a:t>
            </a:r>
            <a:r>
              <a:rPr lang="en-US" sz="2800" b="1">
                <a:sym typeface="Times New Roman" panose="02020603050405020304"/>
              </a:rPr>
              <a:t>Screenshot</a:t>
            </a:r>
            <a:endParaRPr lang="en-US" sz="2800"/>
          </a:p>
        </p:txBody>
      </p:sp>
      <p:pic>
        <p:nvPicPr>
          <p:cNvPr id="5" name="Picture 4" descr="Screenshot 2026-09-10 204806"/>
          <p:cNvPicPr>
            <a:picLocks noChangeAspect="1"/>
          </p:cNvPicPr>
          <p:nvPr/>
        </p:nvPicPr>
        <p:blipFill>
          <a:blip r:embed="rId1"/>
          <a:stretch>
            <a:fillRect/>
          </a:stretch>
        </p:blipFill>
        <p:spPr>
          <a:xfrm>
            <a:off x="2044065" y="852170"/>
            <a:ext cx="7561580" cy="3841750"/>
          </a:xfrm>
          <a:prstGeom prst="rect">
            <a:avLst/>
          </a:prstGeom>
        </p:spPr>
      </p:pic>
      <p:pic>
        <p:nvPicPr>
          <p:cNvPr id="6" name="Picture 5" descr="Screenshot 2026-09-10 204917"/>
          <p:cNvPicPr>
            <a:picLocks noChangeAspect="1"/>
          </p:cNvPicPr>
          <p:nvPr/>
        </p:nvPicPr>
        <p:blipFill>
          <a:blip r:embed="rId2"/>
          <a:stretch>
            <a:fillRect/>
          </a:stretch>
        </p:blipFill>
        <p:spPr>
          <a:xfrm>
            <a:off x="791210" y="4768215"/>
            <a:ext cx="9693275" cy="2016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372745" y="335407"/>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563880" y="935228"/>
            <a:ext cx="11301984" cy="5507990"/>
          </a:xfrm>
          <a:prstGeom prst="rect">
            <a:avLst/>
          </a:prstGeom>
          <a:noFill/>
        </p:spPr>
        <p:txBody>
          <a:bodyPr wrap="square" rtlCol="0">
            <a:spAutoFit/>
          </a:bodyPr>
          <a:lstStyle/>
          <a:p>
            <a:r>
              <a:rPr lang="en-US" altLang="en-US" sz="1600"/>
              <a:t>Novelty and Uniqueness</a:t>
            </a:r>
            <a:endParaRPr lang="en-US" altLang="en-US" sz="1600"/>
          </a:p>
          <a:p>
            <a:endParaRPr lang="en-US" altLang="en-US" sz="1600"/>
          </a:p>
          <a:p>
            <a:r>
              <a:rPr lang="en-US" altLang="en-US" sz="1600"/>
              <a:t>The proposed Career Counseling Companion stands out by combining Agentic AI, RAG, and personalization into a single intelligent system.</a:t>
            </a:r>
            <a:endParaRPr lang="en-US" altLang="en-US" sz="1600"/>
          </a:p>
          <a:p>
            <a:endParaRPr lang="en-US" altLang="en-US" sz="1600"/>
          </a:p>
          <a:p>
            <a:r>
              <a:rPr lang="en-US" altLang="en-US" sz="1600" b="1"/>
              <a:t>Multi-Agent Intelligence –</a:t>
            </a:r>
            <a:r>
              <a:rPr lang="en-US" altLang="en-US" sz="1600"/>
              <a:t> Multiple specialized agents collaborate to provide accurate and context-aware career guidance.</a:t>
            </a:r>
            <a:endParaRPr lang="en-US" altLang="en-US" sz="1600"/>
          </a:p>
          <a:p>
            <a:endParaRPr lang="en-US" altLang="en-US" sz="1600"/>
          </a:p>
          <a:p>
            <a:r>
              <a:rPr lang="en-US" altLang="en-US" sz="1600" b="1"/>
              <a:t>RAG-Based Accuracy –</a:t>
            </a:r>
            <a:r>
              <a:rPr lang="en-US" altLang="en-US" sz="1600"/>
              <a:t> Retrieves relevant career, skill, and industry information before generating recommendations.</a:t>
            </a:r>
            <a:endParaRPr lang="en-US" altLang="en-US" sz="1600"/>
          </a:p>
          <a:p>
            <a:endParaRPr lang="en-US" altLang="en-US" sz="1600"/>
          </a:p>
          <a:p>
            <a:r>
              <a:rPr lang="en-US" altLang="en-US" sz="1600" b="1"/>
              <a:t>Hyper-Personalization –</a:t>
            </a:r>
            <a:r>
              <a:rPr lang="en-US" altLang="en-US" sz="1600"/>
              <a:t> Tailors career suggestions based on academic performance, skills, interests, and career goals.</a:t>
            </a:r>
            <a:endParaRPr lang="en-US" altLang="en-US" sz="1600"/>
          </a:p>
          <a:p>
            <a:endParaRPr lang="en-US" altLang="en-US" sz="1600"/>
          </a:p>
          <a:p>
            <a:r>
              <a:rPr lang="en-US" altLang="en-US" sz="1600" b="1"/>
              <a:t>Real-Time Adaptation –</a:t>
            </a:r>
            <a:r>
              <a:rPr lang="en-US" altLang="en-US" sz="1600"/>
              <a:t> Updates recommendations based on changing student interests, performance, and industry trends.</a:t>
            </a:r>
            <a:endParaRPr lang="en-US" altLang="en-US" sz="1600"/>
          </a:p>
          <a:p>
            <a:endParaRPr lang="en-US" altLang="en-US" sz="1600"/>
          </a:p>
          <a:p>
            <a:r>
              <a:rPr lang="en-US" altLang="en-US" sz="1600" b="1"/>
              <a:t>Skill Gap Analysis </a:t>
            </a:r>
            <a:r>
              <a:rPr lang="en-US" altLang="en-US" sz="1600"/>
              <a:t>– Identifies missing skills and suggests suitable learning areas to improve employability.</a:t>
            </a:r>
            <a:endParaRPr lang="en-US" altLang="en-US" sz="1600"/>
          </a:p>
          <a:p>
            <a:endParaRPr lang="en-US" altLang="en-US" sz="1600"/>
          </a:p>
          <a:p>
            <a:r>
              <a:rPr lang="en-US" altLang="en-US" sz="1600" b="1"/>
              <a:t>Career Roadmap –</a:t>
            </a:r>
            <a:r>
              <a:rPr lang="en-US" altLang="en-US" sz="1600"/>
              <a:t> Provides personalized learning paths and actionable steps toward selected career goals.</a:t>
            </a:r>
            <a:endParaRPr lang="en-US" altLang="en-US" sz="1600"/>
          </a:p>
          <a:p>
            <a:endParaRPr lang="en-US" altLang="en-US" sz="1600"/>
          </a:p>
          <a:p>
            <a:r>
              <a:rPr lang="en-US" altLang="en-US" sz="1600" b="1"/>
              <a:t>Scalable &amp; Enterprise-Ready – </a:t>
            </a:r>
            <a:r>
              <a:rPr lang="en-US" altLang="en-US" sz="1600"/>
              <a:t>Built using IBM watsonx.ai and IBM Granite models for reliable and governed AI.</a:t>
            </a:r>
            <a:endParaRPr lang="en-US" altLang="en-US" sz="1600"/>
          </a:p>
          <a:p>
            <a:endParaRPr lang="en-US" altLang="en-US" sz="1600"/>
          </a:p>
          <a:p>
            <a:r>
              <a:rPr lang="en-US" altLang="en-US" sz="1600"/>
              <a:t>This makes the solution a smart, adaptive, and proactive career counseling assistant, not just a static career recommendation tool.</a:t>
            </a:r>
            <a:endParaRPr lang="en-US" alt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569119" y="99540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u="sng">
                <a:sym typeface="Times New Roman" panose="02020603050405020304"/>
              </a:rPr>
              <a:t>Git </a:t>
            </a:r>
            <a:r>
              <a:rPr lang="en-US" sz="2400" b="1" u="sng">
                <a:sym typeface="Times New Roman" panose="02020603050405020304"/>
              </a:rPr>
              <a:t>Hub Link</a:t>
            </a:r>
            <a:r>
              <a:rPr lang="en-US" sz="2400" b="1">
                <a:sym typeface="Times New Roman" panose="02020603050405020304"/>
              </a:rPr>
              <a:t> :</a:t>
            </a:r>
            <a:endParaRPr sz="2400" b="1">
              <a:sym typeface="Times New Roman" panose="02020603050405020304"/>
            </a:endParaRPr>
          </a:p>
        </p:txBody>
      </p:sp>
      <p:sp>
        <p:nvSpPr>
          <p:cNvPr id="279" name="Google Shape;279;p18"/>
          <p:cNvSpPr/>
          <p:nvPr/>
        </p:nvSpPr>
        <p:spPr>
          <a:xfrm>
            <a:off x="826135" y="2314575"/>
            <a:ext cx="10982325" cy="890905"/>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280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2800" b="1">
                <a:solidFill>
                  <a:srgbClr val="2B3541"/>
                </a:solidFill>
                <a:latin typeface="Times New Roman" panose="02020603050405020304"/>
                <a:ea typeface="Times New Roman" panose="02020603050405020304"/>
                <a:cs typeface="Times New Roman" panose="02020603050405020304"/>
                <a:sym typeface="Times New Roman" panose="02020603050405020304"/>
              </a:rPr>
              <a:t>https://github.com/vivekgoud2005/career-counseling-companion.git</a:t>
            </a:r>
            <a:endParaRPr sz="28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565" y="1221740"/>
            <a:ext cx="8033385" cy="25628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r>
              <a:rPr lang="en-US" alt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Real-Time Job Market Integration –</a:t>
            </a:r>
            <a:endParaRPr lang="en-US" alt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can be integrated with live job-market data to track emerging job roles, required skills, salary trends, and industry demand. This will enable the Career Counseling Companion to provide more accurate and future-ready career recommendations.</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endParaRPr lang="en-US" alt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r>
              <a:rPr lang="en-US" alt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2. AI-Powered Voice Assistant &amp; Multilingual Support –</a:t>
            </a:r>
            <a:endParaRPr lang="en-US" altLang="en-US" sz="200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Font typeface="Times New Roman" panose="020206030504050203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Enhancing the system with voice interaction and multiple languages will improve accessibility. Students can interact naturally in their preferred language, making career guidance more inclusive and easier to use.</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Please  add your </a:t>
            </a:r>
            <a:r>
              <a:rPr lang="en-US" sz="2400" b="1" dirty="0" err="1"/>
              <a:t>credly</a:t>
            </a:r>
            <a:r>
              <a:rPr lang="en-US" sz="2400" b="1" dirty="0"/>
              <a:t> certificate(Getting Started with Artificial Intelligence)  </a:t>
            </a:r>
            <a:endParaRPr lang="en-US" sz="2400" b="1" dirty="0"/>
          </a:p>
        </p:txBody>
      </p:sp>
      <p:pic>
        <p:nvPicPr>
          <p:cNvPr id="2" name="Picture 1" descr="Screenshot 2026-09-10 212448"/>
          <p:cNvPicPr>
            <a:picLocks noChangeAspect="1"/>
          </p:cNvPicPr>
          <p:nvPr/>
        </p:nvPicPr>
        <p:blipFill>
          <a:blip r:embed="rId1"/>
          <a:stretch>
            <a:fillRect/>
          </a:stretch>
        </p:blipFill>
        <p:spPr>
          <a:xfrm>
            <a:off x="2299970" y="1236980"/>
            <a:ext cx="7066280" cy="54413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descr="Screenshot 2026-09-10 212518"/>
          <p:cNvPicPr>
            <a:picLocks noChangeAspect="1"/>
          </p:cNvPicPr>
          <p:nvPr/>
        </p:nvPicPr>
        <p:blipFill>
          <a:blip r:embed="rId1"/>
          <a:stretch>
            <a:fillRect/>
          </a:stretch>
        </p:blipFill>
        <p:spPr>
          <a:xfrm>
            <a:off x="1808480" y="1344295"/>
            <a:ext cx="8115300" cy="51415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7130</Words>
  <Application>WPS Slides</Application>
  <PresentationFormat>Widescreen</PresentationFormat>
  <Paragraphs>198</Paragraphs>
  <Slides>22</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Vivek Goud</cp:lastModifiedBy>
  <cp:revision>3</cp:revision>
  <dcterms:created xsi:type="dcterms:W3CDTF">2025-07-08T05:06:00Z</dcterms:created>
  <dcterms:modified xsi:type="dcterms:W3CDTF">2026-09-10T16:01:02Z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10373E6B3A1C4947A80D1AE7D8FCDF1B_13</vt:lpwstr>
  </property>
  <property fmtid="{D5CDD505-2E9C-101B-9397-08002B2CF9AE}" pid="3" name="KSOProductBuildVer">
    <vt:lpwstr>1033-12.2.0.20795</vt:lpwstr>
  </property>
</Properties>
</file>